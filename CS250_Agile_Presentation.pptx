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4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D9922C-4559-1543-8B00-1066FDA4F628}" v="4" dt="2025-12-11T02:51:47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58"/>
  </p:normalViewPr>
  <p:slideViewPr>
    <p:cSldViewPr snapToGrid="0">
      <p:cViewPr varScale="1">
        <p:scale>
          <a:sx n="120" d="100"/>
          <a:sy n="120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vy, Joshua" userId="9857cbd8-f058-4e33-a4b1-3f56b49d19a6" providerId="ADAL" clId="{A68CF9F0-E7AA-55EE-B21D-AFEC310AD413}"/>
    <pc:docChg chg="modSld">
      <pc:chgData name="Sevy, Joshua" userId="9857cbd8-f058-4e33-a4b1-3f56b49d19a6" providerId="ADAL" clId="{A68CF9F0-E7AA-55EE-B21D-AFEC310AD413}" dt="2025-12-11T02:51:58.002" v="9" actId="207"/>
      <pc:docMkLst>
        <pc:docMk/>
      </pc:docMkLst>
      <pc:sldChg chg="modSp mod">
        <pc:chgData name="Sevy, Joshua" userId="9857cbd8-f058-4e33-a4b1-3f56b49d19a6" providerId="ADAL" clId="{A68CF9F0-E7AA-55EE-B21D-AFEC310AD413}" dt="2025-12-10T07:59:33.891" v="2" actId="1076"/>
        <pc:sldMkLst>
          <pc:docMk/>
          <pc:sldMk cId="4013060852" sldId="257"/>
        </pc:sldMkLst>
        <pc:spChg chg="mod">
          <ac:chgData name="Sevy, Joshua" userId="9857cbd8-f058-4e33-a4b1-3f56b49d19a6" providerId="ADAL" clId="{A68CF9F0-E7AA-55EE-B21D-AFEC310AD413}" dt="2025-12-10T07:59:33.891" v="2" actId="1076"/>
          <ac:spMkLst>
            <pc:docMk/>
            <pc:sldMk cId="4013060852" sldId="257"/>
            <ac:spMk id="2" creationId="{EF22A1A7-E84E-6938-2226-48C15091C126}"/>
          </ac:spMkLst>
        </pc:spChg>
      </pc:sldChg>
      <pc:sldChg chg="modSp mod">
        <pc:chgData name="Sevy, Joshua" userId="9857cbd8-f058-4e33-a4b1-3f56b49d19a6" providerId="ADAL" clId="{A68CF9F0-E7AA-55EE-B21D-AFEC310AD413}" dt="2025-12-11T02:51:58.002" v="9" actId="207"/>
        <pc:sldMkLst>
          <pc:docMk/>
          <pc:sldMk cId="2435326164" sldId="262"/>
        </pc:sldMkLst>
        <pc:spChg chg="mod">
          <ac:chgData name="Sevy, Joshua" userId="9857cbd8-f058-4e33-a4b1-3f56b49d19a6" providerId="ADAL" clId="{A68CF9F0-E7AA-55EE-B21D-AFEC310AD413}" dt="2025-12-11T02:51:58.002" v="9" actId="207"/>
          <ac:spMkLst>
            <pc:docMk/>
            <pc:sldMk cId="2435326164" sldId="262"/>
            <ac:spMk id="4" creationId="{A91775DC-25CE-04A5-A613-3574180E359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C02803-CD44-4678-A149-16598BF16588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FF02E8-DC6A-40E7-AF13-2C2A632172E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Agile is iterative and incremental, with the entire SDLC occurring in repeating cycles.</a:t>
          </a:r>
        </a:p>
      </dgm:t>
    </dgm:pt>
    <dgm:pt modelId="{BD3FB620-471C-426C-9812-32C7380DAB51}" type="parTrans" cxnId="{0CE1E3A7-C4FA-4CCE-B8BC-AF6E8097BFFF}">
      <dgm:prSet/>
      <dgm:spPr/>
      <dgm:t>
        <a:bodyPr/>
        <a:lstStyle/>
        <a:p>
          <a:endParaRPr lang="en-US"/>
        </a:p>
      </dgm:t>
    </dgm:pt>
    <dgm:pt modelId="{E82A9C9B-3409-4638-81F2-E7B32AED353F}" type="sibTrans" cxnId="{0CE1E3A7-C4FA-4CCE-B8BC-AF6E8097BFF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A1486B-3927-4B98-9A7B-3F39DFFFC2C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Planning: Define the overall product vision (Product Backlog).</a:t>
          </a:r>
        </a:p>
      </dgm:t>
    </dgm:pt>
    <dgm:pt modelId="{2B102DFD-4754-4D90-8CF0-2481550461AC}" type="parTrans" cxnId="{4A111BC0-F02A-41D8-8B0D-585F7B6F761A}">
      <dgm:prSet/>
      <dgm:spPr/>
      <dgm:t>
        <a:bodyPr/>
        <a:lstStyle/>
        <a:p>
          <a:endParaRPr lang="en-US"/>
        </a:p>
      </dgm:t>
    </dgm:pt>
    <dgm:pt modelId="{64F3EBD2-5C66-471F-8B54-BF12017511E7}" type="sibTrans" cxnId="{4A111BC0-F02A-41D8-8B0D-585F7B6F761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263A00-9B1B-47C4-90F2-70E13BEBCBF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Design &amp; Development: The team designs, codes, and tests features within a short sprint.</a:t>
          </a:r>
        </a:p>
      </dgm:t>
    </dgm:pt>
    <dgm:pt modelId="{7DFC9999-200B-45E1-86A6-D2224101C97A}" type="parTrans" cxnId="{779AF3AF-3E4B-4C3A-934B-7B9A1224A18C}">
      <dgm:prSet/>
      <dgm:spPr/>
      <dgm:t>
        <a:bodyPr/>
        <a:lstStyle/>
        <a:p>
          <a:endParaRPr lang="en-US"/>
        </a:p>
      </dgm:t>
    </dgm:pt>
    <dgm:pt modelId="{346CAFA7-B29E-4952-AEB5-A91201A9D427}" type="sibTrans" cxnId="{779AF3AF-3E4B-4C3A-934B-7B9A1224A1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2EF95EC-B4EE-4A31-A91B-A17180AC98F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Continuous testing is integrated into every Sprint, resulting in a potentially shippable increment.</a:t>
          </a:r>
        </a:p>
      </dgm:t>
    </dgm:pt>
    <dgm:pt modelId="{6E45E6ED-1B59-4F2A-BBF2-2CC016E322E3}" type="parTrans" cxnId="{07158018-2916-400B-8D4A-C92E5EECD836}">
      <dgm:prSet/>
      <dgm:spPr/>
      <dgm:t>
        <a:bodyPr/>
        <a:lstStyle/>
        <a:p>
          <a:endParaRPr lang="en-US"/>
        </a:p>
      </dgm:t>
    </dgm:pt>
    <dgm:pt modelId="{C1E88F74-069B-4687-A957-D52D88BB434A}" type="sibTrans" cxnId="{07158018-2916-400B-8D4A-C92E5EECD83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F957D0-700B-4FCD-8D3B-1D3399AE9B1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A working product increment is released to stakeholders/users at the end of each Sprint or after several Sprints.</a:t>
          </a:r>
        </a:p>
      </dgm:t>
    </dgm:pt>
    <dgm:pt modelId="{724BBA43-548B-47A5-A8CD-2D87A02F6171}" type="parTrans" cxnId="{F9837462-66DD-46B0-AC08-57D8CF67A4BF}">
      <dgm:prSet/>
      <dgm:spPr/>
      <dgm:t>
        <a:bodyPr/>
        <a:lstStyle/>
        <a:p>
          <a:endParaRPr lang="en-US"/>
        </a:p>
      </dgm:t>
    </dgm:pt>
    <dgm:pt modelId="{6CAA8326-4368-48CB-955E-56D753A69775}" type="sibTrans" cxnId="{F9837462-66DD-46B0-AC08-57D8CF67A4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D8D314A-083A-4A02-BACB-26AEEA3DA39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Review and Retrospective: The team and stakeholders inspect the increment and improve the process.</a:t>
          </a:r>
        </a:p>
      </dgm:t>
    </dgm:pt>
    <dgm:pt modelId="{95810234-65F0-4ADE-B50B-F3A3C22FD505}" type="parTrans" cxnId="{7A805446-2BA8-4680-815E-CAB8460EA4D9}">
      <dgm:prSet/>
      <dgm:spPr/>
      <dgm:t>
        <a:bodyPr/>
        <a:lstStyle/>
        <a:p>
          <a:endParaRPr lang="en-US"/>
        </a:p>
      </dgm:t>
    </dgm:pt>
    <dgm:pt modelId="{0564761B-CA53-4F99-BCB1-07F4CCE215C7}" type="sibTrans" cxnId="{7A805446-2BA8-4680-815E-CAB8460EA4D9}">
      <dgm:prSet/>
      <dgm:spPr/>
      <dgm:t>
        <a:bodyPr/>
        <a:lstStyle/>
        <a:p>
          <a:endParaRPr lang="en-US"/>
        </a:p>
      </dgm:t>
    </dgm:pt>
    <dgm:pt modelId="{09939A8A-EEBB-4A79-AAE7-16D3DCB0B2AF}" type="pres">
      <dgm:prSet presAssocID="{E2C02803-CD44-4678-A149-16598BF16588}" presName="root" presStyleCnt="0">
        <dgm:presLayoutVars>
          <dgm:dir/>
          <dgm:resizeHandles val="exact"/>
        </dgm:presLayoutVars>
      </dgm:prSet>
      <dgm:spPr/>
    </dgm:pt>
    <dgm:pt modelId="{18A2B41B-37C5-4666-AFE7-2DAA493957DE}" type="pres">
      <dgm:prSet presAssocID="{9FFF02E8-DC6A-40E7-AF13-2C2A632172E8}" presName="compNode" presStyleCnt="0"/>
      <dgm:spPr/>
    </dgm:pt>
    <dgm:pt modelId="{BAB85A85-1675-48A4-B796-2108B324BCD8}" type="pres">
      <dgm:prSet presAssocID="{9FFF02E8-DC6A-40E7-AF13-2C2A632172E8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37A56D5-A45D-415E-8642-7989F6C2B35A}" type="pres">
      <dgm:prSet presAssocID="{9FFF02E8-DC6A-40E7-AF13-2C2A632172E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81505107-9275-47A4-ADE0-4B0ACD3DD5D7}" type="pres">
      <dgm:prSet presAssocID="{9FFF02E8-DC6A-40E7-AF13-2C2A632172E8}" presName="spaceRect" presStyleCnt="0"/>
      <dgm:spPr/>
    </dgm:pt>
    <dgm:pt modelId="{967CAFB8-DF45-485B-AFD8-9C1F4BAB0844}" type="pres">
      <dgm:prSet presAssocID="{9FFF02E8-DC6A-40E7-AF13-2C2A632172E8}" presName="textRect" presStyleLbl="revTx" presStyleIdx="0" presStyleCnt="6">
        <dgm:presLayoutVars>
          <dgm:chMax val="1"/>
          <dgm:chPref val="1"/>
        </dgm:presLayoutVars>
      </dgm:prSet>
      <dgm:spPr/>
    </dgm:pt>
    <dgm:pt modelId="{712C20A0-5596-4019-8866-6D2967A76387}" type="pres">
      <dgm:prSet presAssocID="{E82A9C9B-3409-4638-81F2-E7B32AED353F}" presName="sibTrans" presStyleCnt="0"/>
      <dgm:spPr/>
    </dgm:pt>
    <dgm:pt modelId="{982FB6A4-8836-408F-A891-F557A8274194}" type="pres">
      <dgm:prSet presAssocID="{68A1486B-3927-4B98-9A7B-3F39DFFFC2C2}" presName="compNode" presStyleCnt="0"/>
      <dgm:spPr/>
    </dgm:pt>
    <dgm:pt modelId="{FA940AB0-5643-4FFA-9173-2A11DE8AD83A}" type="pres">
      <dgm:prSet presAssocID="{68A1486B-3927-4B98-9A7B-3F39DFFFC2C2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907F1697-39D4-4844-8689-9C80852BA80F}" type="pres">
      <dgm:prSet presAssocID="{68A1486B-3927-4B98-9A7B-3F39DFFFC2C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06D2F0D-DD78-48DF-BD8C-ED7DB143F032}" type="pres">
      <dgm:prSet presAssocID="{68A1486B-3927-4B98-9A7B-3F39DFFFC2C2}" presName="spaceRect" presStyleCnt="0"/>
      <dgm:spPr/>
    </dgm:pt>
    <dgm:pt modelId="{D79C3051-2B0E-4C47-8F94-DD54D22DBAB1}" type="pres">
      <dgm:prSet presAssocID="{68A1486B-3927-4B98-9A7B-3F39DFFFC2C2}" presName="textRect" presStyleLbl="revTx" presStyleIdx="1" presStyleCnt="6">
        <dgm:presLayoutVars>
          <dgm:chMax val="1"/>
          <dgm:chPref val="1"/>
        </dgm:presLayoutVars>
      </dgm:prSet>
      <dgm:spPr/>
    </dgm:pt>
    <dgm:pt modelId="{A72E1DC5-9E4C-4E42-A3B9-2273B872193E}" type="pres">
      <dgm:prSet presAssocID="{64F3EBD2-5C66-471F-8B54-BF12017511E7}" presName="sibTrans" presStyleCnt="0"/>
      <dgm:spPr/>
    </dgm:pt>
    <dgm:pt modelId="{DC6BFD5C-087C-42D1-BAE7-04B93BC62CE0}" type="pres">
      <dgm:prSet presAssocID="{0C263A00-9B1B-47C4-90F2-70E13BEBCBF3}" presName="compNode" presStyleCnt="0"/>
      <dgm:spPr/>
    </dgm:pt>
    <dgm:pt modelId="{5C7003B4-8D73-4359-AA08-60A7C4E0B2DA}" type="pres">
      <dgm:prSet presAssocID="{0C263A00-9B1B-47C4-90F2-70E13BEBCBF3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56B5C5B-F270-4EA2-A3D9-4C392707F557}" type="pres">
      <dgm:prSet presAssocID="{0C263A00-9B1B-47C4-90F2-70E13BEBCBF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2DF118E-B809-49AE-BA95-07D22590CBE7}" type="pres">
      <dgm:prSet presAssocID="{0C263A00-9B1B-47C4-90F2-70E13BEBCBF3}" presName="spaceRect" presStyleCnt="0"/>
      <dgm:spPr/>
    </dgm:pt>
    <dgm:pt modelId="{8AF23A13-12DE-4476-84F7-615EC2607949}" type="pres">
      <dgm:prSet presAssocID="{0C263A00-9B1B-47C4-90F2-70E13BEBCBF3}" presName="textRect" presStyleLbl="revTx" presStyleIdx="2" presStyleCnt="6">
        <dgm:presLayoutVars>
          <dgm:chMax val="1"/>
          <dgm:chPref val="1"/>
        </dgm:presLayoutVars>
      </dgm:prSet>
      <dgm:spPr/>
    </dgm:pt>
    <dgm:pt modelId="{64D88699-B6B7-4CCE-95E0-38F980C78EB6}" type="pres">
      <dgm:prSet presAssocID="{346CAFA7-B29E-4952-AEB5-A91201A9D427}" presName="sibTrans" presStyleCnt="0"/>
      <dgm:spPr/>
    </dgm:pt>
    <dgm:pt modelId="{B92B256E-D86A-4568-B0B8-838CBEF128C2}" type="pres">
      <dgm:prSet presAssocID="{92EF95EC-B4EE-4A31-A91B-A17180AC98F6}" presName="compNode" presStyleCnt="0"/>
      <dgm:spPr/>
    </dgm:pt>
    <dgm:pt modelId="{49B6ABD5-AC46-4296-8E42-B2D1AD70730A}" type="pres">
      <dgm:prSet presAssocID="{92EF95EC-B4EE-4A31-A91B-A17180AC98F6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625AA17D-132B-405D-97CD-12FE7F4F13A5}" type="pres">
      <dgm:prSet presAssocID="{92EF95EC-B4EE-4A31-A91B-A17180AC98F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6FEEB4A-EF96-4BC8-A538-83D7C9AB2B54}" type="pres">
      <dgm:prSet presAssocID="{92EF95EC-B4EE-4A31-A91B-A17180AC98F6}" presName="spaceRect" presStyleCnt="0"/>
      <dgm:spPr/>
    </dgm:pt>
    <dgm:pt modelId="{62C00004-A396-4405-976E-A13A0EDF50BE}" type="pres">
      <dgm:prSet presAssocID="{92EF95EC-B4EE-4A31-A91B-A17180AC98F6}" presName="textRect" presStyleLbl="revTx" presStyleIdx="3" presStyleCnt="6">
        <dgm:presLayoutVars>
          <dgm:chMax val="1"/>
          <dgm:chPref val="1"/>
        </dgm:presLayoutVars>
      </dgm:prSet>
      <dgm:spPr/>
    </dgm:pt>
    <dgm:pt modelId="{E05FB2AA-1E6B-4EA2-95F1-C3B7E430B85B}" type="pres">
      <dgm:prSet presAssocID="{C1E88F74-069B-4687-A957-D52D88BB434A}" presName="sibTrans" presStyleCnt="0"/>
      <dgm:spPr/>
    </dgm:pt>
    <dgm:pt modelId="{F218D9F0-2D44-4645-AD78-0485F601FA4A}" type="pres">
      <dgm:prSet presAssocID="{D8F957D0-700B-4FCD-8D3B-1D3399AE9B17}" presName="compNode" presStyleCnt="0"/>
      <dgm:spPr/>
    </dgm:pt>
    <dgm:pt modelId="{84D5C079-FFF5-4EDE-9F4D-CE05F37ECF6F}" type="pres">
      <dgm:prSet presAssocID="{D8F957D0-700B-4FCD-8D3B-1D3399AE9B17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3DE6CDAB-20D7-46C3-AFB9-F86CD8135916}" type="pres">
      <dgm:prSet presAssocID="{D8F957D0-700B-4FCD-8D3B-1D3399AE9B1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D9F5523C-B38C-4297-B995-1D8AECA2DF49}" type="pres">
      <dgm:prSet presAssocID="{D8F957D0-700B-4FCD-8D3B-1D3399AE9B17}" presName="spaceRect" presStyleCnt="0"/>
      <dgm:spPr/>
    </dgm:pt>
    <dgm:pt modelId="{97877726-38A5-4676-BA5E-A64C14F5525D}" type="pres">
      <dgm:prSet presAssocID="{D8F957D0-700B-4FCD-8D3B-1D3399AE9B17}" presName="textRect" presStyleLbl="revTx" presStyleIdx="4" presStyleCnt="6">
        <dgm:presLayoutVars>
          <dgm:chMax val="1"/>
          <dgm:chPref val="1"/>
        </dgm:presLayoutVars>
      </dgm:prSet>
      <dgm:spPr/>
    </dgm:pt>
    <dgm:pt modelId="{3FFF961B-0A5D-4890-B0AD-1A970CC16F37}" type="pres">
      <dgm:prSet presAssocID="{6CAA8326-4368-48CB-955E-56D753A69775}" presName="sibTrans" presStyleCnt="0"/>
      <dgm:spPr/>
    </dgm:pt>
    <dgm:pt modelId="{5B5549E7-B708-448C-BD6D-407C9CA2C963}" type="pres">
      <dgm:prSet presAssocID="{BD8D314A-083A-4A02-BACB-26AEEA3DA398}" presName="compNode" presStyleCnt="0"/>
      <dgm:spPr/>
    </dgm:pt>
    <dgm:pt modelId="{E55474B5-C184-4490-81B5-1953B9B1D45A}" type="pres">
      <dgm:prSet presAssocID="{BD8D314A-083A-4A02-BACB-26AEEA3DA398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CF6FA03-004E-4D4C-A5B4-0911C878E1EE}" type="pres">
      <dgm:prSet presAssocID="{BD8D314A-083A-4A02-BACB-26AEEA3DA39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3CC46FBD-35D5-40D1-BE62-CAC4E3641621}" type="pres">
      <dgm:prSet presAssocID="{BD8D314A-083A-4A02-BACB-26AEEA3DA398}" presName="spaceRect" presStyleCnt="0"/>
      <dgm:spPr/>
    </dgm:pt>
    <dgm:pt modelId="{F78D0A75-7DA5-468E-8B9D-B59727144AAD}" type="pres">
      <dgm:prSet presAssocID="{BD8D314A-083A-4A02-BACB-26AEEA3DA39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F28CD11-8629-5C44-BADA-61149B3420ED}" type="presOf" srcId="{E2C02803-CD44-4678-A149-16598BF16588}" destId="{09939A8A-EEBB-4A79-AAE7-16D3DCB0B2AF}" srcOrd="0" destOrd="0" presId="urn:microsoft.com/office/officeart/2018/5/layout/IconLeafLabelList"/>
    <dgm:cxn modelId="{07158018-2916-400B-8D4A-C92E5EECD836}" srcId="{E2C02803-CD44-4678-A149-16598BF16588}" destId="{92EF95EC-B4EE-4A31-A91B-A17180AC98F6}" srcOrd="3" destOrd="0" parTransId="{6E45E6ED-1B59-4F2A-BBF2-2CC016E322E3}" sibTransId="{C1E88F74-069B-4687-A957-D52D88BB434A}"/>
    <dgm:cxn modelId="{3D94FE3B-BCF3-B44F-A4F4-0F196F78F4C3}" type="presOf" srcId="{68A1486B-3927-4B98-9A7B-3F39DFFFC2C2}" destId="{D79C3051-2B0E-4C47-8F94-DD54D22DBAB1}" srcOrd="0" destOrd="0" presId="urn:microsoft.com/office/officeart/2018/5/layout/IconLeafLabelList"/>
    <dgm:cxn modelId="{ADE87241-DAFF-224D-AE8D-43120EA40C14}" type="presOf" srcId="{BD8D314A-083A-4A02-BACB-26AEEA3DA398}" destId="{F78D0A75-7DA5-468E-8B9D-B59727144AAD}" srcOrd="0" destOrd="0" presId="urn:microsoft.com/office/officeart/2018/5/layout/IconLeafLabelList"/>
    <dgm:cxn modelId="{7A805446-2BA8-4680-815E-CAB8460EA4D9}" srcId="{E2C02803-CD44-4678-A149-16598BF16588}" destId="{BD8D314A-083A-4A02-BACB-26AEEA3DA398}" srcOrd="5" destOrd="0" parTransId="{95810234-65F0-4ADE-B50B-F3A3C22FD505}" sibTransId="{0564761B-CA53-4F99-BCB1-07F4CCE215C7}"/>
    <dgm:cxn modelId="{68800D5E-6634-EA49-A748-97F316FC1B57}" type="presOf" srcId="{D8F957D0-700B-4FCD-8D3B-1D3399AE9B17}" destId="{97877726-38A5-4676-BA5E-A64C14F5525D}" srcOrd="0" destOrd="0" presId="urn:microsoft.com/office/officeart/2018/5/layout/IconLeafLabelList"/>
    <dgm:cxn modelId="{F9837462-66DD-46B0-AC08-57D8CF67A4BF}" srcId="{E2C02803-CD44-4678-A149-16598BF16588}" destId="{D8F957D0-700B-4FCD-8D3B-1D3399AE9B17}" srcOrd="4" destOrd="0" parTransId="{724BBA43-548B-47A5-A8CD-2D87A02F6171}" sibTransId="{6CAA8326-4368-48CB-955E-56D753A69775}"/>
    <dgm:cxn modelId="{F2429A6C-4124-084E-9C36-A18049455BCB}" type="presOf" srcId="{92EF95EC-B4EE-4A31-A91B-A17180AC98F6}" destId="{62C00004-A396-4405-976E-A13A0EDF50BE}" srcOrd="0" destOrd="0" presId="urn:microsoft.com/office/officeart/2018/5/layout/IconLeafLabelList"/>
    <dgm:cxn modelId="{7E4C8D82-8594-4A46-A3B1-FF23C85324FC}" type="presOf" srcId="{9FFF02E8-DC6A-40E7-AF13-2C2A632172E8}" destId="{967CAFB8-DF45-485B-AFD8-9C1F4BAB0844}" srcOrd="0" destOrd="0" presId="urn:microsoft.com/office/officeart/2018/5/layout/IconLeafLabelList"/>
    <dgm:cxn modelId="{0CE1E3A7-C4FA-4CCE-B8BC-AF6E8097BFFF}" srcId="{E2C02803-CD44-4678-A149-16598BF16588}" destId="{9FFF02E8-DC6A-40E7-AF13-2C2A632172E8}" srcOrd="0" destOrd="0" parTransId="{BD3FB620-471C-426C-9812-32C7380DAB51}" sibTransId="{E82A9C9B-3409-4638-81F2-E7B32AED353F}"/>
    <dgm:cxn modelId="{779AF3AF-3E4B-4C3A-934B-7B9A1224A18C}" srcId="{E2C02803-CD44-4678-A149-16598BF16588}" destId="{0C263A00-9B1B-47C4-90F2-70E13BEBCBF3}" srcOrd="2" destOrd="0" parTransId="{7DFC9999-200B-45E1-86A6-D2224101C97A}" sibTransId="{346CAFA7-B29E-4952-AEB5-A91201A9D427}"/>
    <dgm:cxn modelId="{4A111BC0-F02A-41D8-8B0D-585F7B6F761A}" srcId="{E2C02803-CD44-4678-A149-16598BF16588}" destId="{68A1486B-3927-4B98-9A7B-3F39DFFFC2C2}" srcOrd="1" destOrd="0" parTransId="{2B102DFD-4754-4D90-8CF0-2481550461AC}" sibTransId="{64F3EBD2-5C66-471F-8B54-BF12017511E7}"/>
    <dgm:cxn modelId="{FE1D8FC1-3465-904A-B7D7-D86187087A42}" type="presOf" srcId="{0C263A00-9B1B-47C4-90F2-70E13BEBCBF3}" destId="{8AF23A13-12DE-4476-84F7-615EC2607949}" srcOrd="0" destOrd="0" presId="urn:microsoft.com/office/officeart/2018/5/layout/IconLeafLabelList"/>
    <dgm:cxn modelId="{5E4844F7-4300-7F4F-826C-9918BCFF6A72}" type="presParOf" srcId="{09939A8A-EEBB-4A79-AAE7-16D3DCB0B2AF}" destId="{18A2B41B-37C5-4666-AFE7-2DAA493957DE}" srcOrd="0" destOrd="0" presId="urn:microsoft.com/office/officeart/2018/5/layout/IconLeafLabelList"/>
    <dgm:cxn modelId="{AD9A82C0-EA95-8F4E-8EB3-12B377DCC022}" type="presParOf" srcId="{18A2B41B-37C5-4666-AFE7-2DAA493957DE}" destId="{BAB85A85-1675-48A4-B796-2108B324BCD8}" srcOrd="0" destOrd="0" presId="urn:microsoft.com/office/officeart/2018/5/layout/IconLeafLabelList"/>
    <dgm:cxn modelId="{67BEBB1F-E052-5E45-AE8E-A672993ABF5F}" type="presParOf" srcId="{18A2B41B-37C5-4666-AFE7-2DAA493957DE}" destId="{537A56D5-A45D-415E-8642-7989F6C2B35A}" srcOrd="1" destOrd="0" presId="urn:microsoft.com/office/officeart/2018/5/layout/IconLeafLabelList"/>
    <dgm:cxn modelId="{38300102-5F68-D443-985A-0AEA77A6BA35}" type="presParOf" srcId="{18A2B41B-37C5-4666-AFE7-2DAA493957DE}" destId="{81505107-9275-47A4-ADE0-4B0ACD3DD5D7}" srcOrd="2" destOrd="0" presId="urn:microsoft.com/office/officeart/2018/5/layout/IconLeafLabelList"/>
    <dgm:cxn modelId="{B4D0A012-09BD-AA40-A6F6-BA1977472509}" type="presParOf" srcId="{18A2B41B-37C5-4666-AFE7-2DAA493957DE}" destId="{967CAFB8-DF45-485B-AFD8-9C1F4BAB0844}" srcOrd="3" destOrd="0" presId="urn:microsoft.com/office/officeart/2018/5/layout/IconLeafLabelList"/>
    <dgm:cxn modelId="{D91437E3-E017-EE44-ACEB-2DB3D3A415C2}" type="presParOf" srcId="{09939A8A-EEBB-4A79-AAE7-16D3DCB0B2AF}" destId="{712C20A0-5596-4019-8866-6D2967A76387}" srcOrd="1" destOrd="0" presId="urn:microsoft.com/office/officeart/2018/5/layout/IconLeafLabelList"/>
    <dgm:cxn modelId="{DE2BD25B-A85D-874E-AB94-F09094CFFF9F}" type="presParOf" srcId="{09939A8A-EEBB-4A79-AAE7-16D3DCB0B2AF}" destId="{982FB6A4-8836-408F-A891-F557A8274194}" srcOrd="2" destOrd="0" presId="urn:microsoft.com/office/officeart/2018/5/layout/IconLeafLabelList"/>
    <dgm:cxn modelId="{5A721056-E044-1043-BE28-E284725C5C45}" type="presParOf" srcId="{982FB6A4-8836-408F-A891-F557A8274194}" destId="{FA940AB0-5643-4FFA-9173-2A11DE8AD83A}" srcOrd="0" destOrd="0" presId="urn:microsoft.com/office/officeart/2018/5/layout/IconLeafLabelList"/>
    <dgm:cxn modelId="{E9EFB6B7-88F5-4C4D-9922-12E8DA930E73}" type="presParOf" srcId="{982FB6A4-8836-408F-A891-F557A8274194}" destId="{907F1697-39D4-4844-8689-9C80852BA80F}" srcOrd="1" destOrd="0" presId="urn:microsoft.com/office/officeart/2018/5/layout/IconLeafLabelList"/>
    <dgm:cxn modelId="{EE834E37-9295-9E4C-9F79-428FD1D9C028}" type="presParOf" srcId="{982FB6A4-8836-408F-A891-F557A8274194}" destId="{A06D2F0D-DD78-48DF-BD8C-ED7DB143F032}" srcOrd="2" destOrd="0" presId="urn:microsoft.com/office/officeart/2018/5/layout/IconLeafLabelList"/>
    <dgm:cxn modelId="{021BA2C9-614C-9D4D-978A-2E8AD8C30D80}" type="presParOf" srcId="{982FB6A4-8836-408F-A891-F557A8274194}" destId="{D79C3051-2B0E-4C47-8F94-DD54D22DBAB1}" srcOrd="3" destOrd="0" presId="urn:microsoft.com/office/officeart/2018/5/layout/IconLeafLabelList"/>
    <dgm:cxn modelId="{962D30E9-B4EE-D044-B455-87D82CFAEC62}" type="presParOf" srcId="{09939A8A-EEBB-4A79-AAE7-16D3DCB0B2AF}" destId="{A72E1DC5-9E4C-4E42-A3B9-2273B872193E}" srcOrd="3" destOrd="0" presId="urn:microsoft.com/office/officeart/2018/5/layout/IconLeafLabelList"/>
    <dgm:cxn modelId="{56D42A34-89CE-1E47-8B6B-35707DA55F91}" type="presParOf" srcId="{09939A8A-EEBB-4A79-AAE7-16D3DCB0B2AF}" destId="{DC6BFD5C-087C-42D1-BAE7-04B93BC62CE0}" srcOrd="4" destOrd="0" presId="urn:microsoft.com/office/officeart/2018/5/layout/IconLeafLabelList"/>
    <dgm:cxn modelId="{2F67A964-73BB-784C-957C-A88134C1F46B}" type="presParOf" srcId="{DC6BFD5C-087C-42D1-BAE7-04B93BC62CE0}" destId="{5C7003B4-8D73-4359-AA08-60A7C4E0B2DA}" srcOrd="0" destOrd="0" presId="urn:microsoft.com/office/officeart/2018/5/layout/IconLeafLabelList"/>
    <dgm:cxn modelId="{98AF29C6-1C6E-FB4D-9752-B59B202330E0}" type="presParOf" srcId="{DC6BFD5C-087C-42D1-BAE7-04B93BC62CE0}" destId="{A56B5C5B-F270-4EA2-A3D9-4C392707F557}" srcOrd="1" destOrd="0" presId="urn:microsoft.com/office/officeart/2018/5/layout/IconLeafLabelList"/>
    <dgm:cxn modelId="{C4FD84AB-3F38-734D-B0B8-2B590068A64C}" type="presParOf" srcId="{DC6BFD5C-087C-42D1-BAE7-04B93BC62CE0}" destId="{C2DF118E-B809-49AE-BA95-07D22590CBE7}" srcOrd="2" destOrd="0" presId="urn:microsoft.com/office/officeart/2018/5/layout/IconLeafLabelList"/>
    <dgm:cxn modelId="{B25D8CAE-E673-8E45-8C75-5DC8113B3528}" type="presParOf" srcId="{DC6BFD5C-087C-42D1-BAE7-04B93BC62CE0}" destId="{8AF23A13-12DE-4476-84F7-615EC2607949}" srcOrd="3" destOrd="0" presId="urn:microsoft.com/office/officeart/2018/5/layout/IconLeafLabelList"/>
    <dgm:cxn modelId="{7E1A2D64-D361-CF4F-A562-F487F3946084}" type="presParOf" srcId="{09939A8A-EEBB-4A79-AAE7-16D3DCB0B2AF}" destId="{64D88699-B6B7-4CCE-95E0-38F980C78EB6}" srcOrd="5" destOrd="0" presId="urn:microsoft.com/office/officeart/2018/5/layout/IconLeafLabelList"/>
    <dgm:cxn modelId="{4DD94A22-4AF1-624D-81CB-1560B6EA3325}" type="presParOf" srcId="{09939A8A-EEBB-4A79-AAE7-16D3DCB0B2AF}" destId="{B92B256E-D86A-4568-B0B8-838CBEF128C2}" srcOrd="6" destOrd="0" presId="urn:microsoft.com/office/officeart/2018/5/layout/IconLeafLabelList"/>
    <dgm:cxn modelId="{9AD35817-0973-8D4F-B98B-A22C54BB580F}" type="presParOf" srcId="{B92B256E-D86A-4568-B0B8-838CBEF128C2}" destId="{49B6ABD5-AC46-4296-8E42-B2D1AD70730A}" srcOrd="0" destOrd="0" presId="urn:microsoft.com/office/officeart/2018/5/layout/IconLeafLabelList"/>
    <dgm:cxn modelId="{A35CCE5B-FF4F-D848-A2A9-ED55BB5BC363}" type="presParOf" srcId="{B92B256E-D86A-4568-B0B8-838CBEF128C2}" destId="{625AA17D-132B-405D-97CD-12FE7F4F13A5}" srcOrd="1" destOrd="0" presId="urn:microsoft.com/office/officeart/2018/5/layout/IconLeafLabelList"/>
    <dgm:cxn modelId="{6A6DEBED-F8F0-3646-BA10-5E0B4A72E57F}" type="presParOf" srcId="{B92B256E-D86A-4568-B0B8-838CBEF128C2}" destId="{76FEEB4A-EF96-4BC8-A538-83D7C9AB2B54}" srcOrd="2" destOrd="0" presId="urn:microsoft.com/office/officeart/2018/5/layout/IconLeafLabelList"/>
    <dgm:cxn modelId="{50012977-8DA1-B64D-9824-F7F37549875B}" type="presParOf" srcId="{B92B256E-D86A-4568-B0B8-838CBEF128C2}" destId="{62C00004-A396-4405-976E-A13A0EDF50BE}" srcOrd="3" destOrd="0" presId="urn:microsoft.com/office/officeart/2018/5/layout/IconLeafLabelList"/>
    <dgm:cxn modelId="{896FFEBB-27C7-FC49-A3F7-D57A75949AED}" type="presParOf" srcId="{09939A8A-EEBB-4A79-AAE7-16D3DCB0B2AF}" destId="{E05FB2AA-1E6B-4EA2-95F1-C3B7E430B85B}" srcOrd="7" destOrd="0" presId="urn:microsoft.com/office/officeart/2018/5/layout/IconLeafLabelList"/>
    <dgm:cxn modelId="{42372A47-A469-7842-9177-A2CDD84FCCE6}" type="presParOf" srcId="{09939A8A-EEBB-4A79-AAE7-16D3DCB0B2AF}" destId="{F218D9F0-2D44-4645-AD78-0485F601FA4A}" srcOrd="8" destOrd="0" presId="urn:microsoft.com/office/officeart/2018/5/layout/IconLeafLabelList"/>
    <dgm:cxn modelId="{133DF3EF-95FE-DD4F-888B-3EA50C45640D}" type="presParOf" srcId="{F218D9F0-2D44-4645-AD78-0485F601FA4A}" destId="{84D5C079-FFF5-4EDE-9F4D-CE05F37ECF6F}" srcOrd="0" destOrd="0" presId="urn:microsoft.com/office/officeart/2018/5/layout/IconLeafLabelList"/>
    <dgm:cxn modelId="{1577539E-0FE2-AF40-B288-3A856BEE5D47}" type="presParOf" srcId="{F218D9F0-2D44-4645-AD78-0485F601FA4A}" destId="{3DE6CDAB-20D7-46C3-AFB9-F86CD8135916}" srcOrd="1" destOrd="0" presId="urn:microsoft.com/office/officeart/2018/5/layout/IconLeafLabelList"/>
    <dgm:cxn modelId="{EC244121-753E-5A41-9427-B4D36DACBCDC}" type="presParOf" srcId="{F218D9F0-2D44-4645-AD78-0485F601FA4A}" destId="{D9F5523C-B38C-4297-B995-1D8AECA2DF49}" srcOrd="2" destOrd="0" presId="urn:microsoft.com/office/officeart/2018/5/layout/IconLeafLabelList"/>
    <dgm:cxn modelId="{75EB0A4E-1D34-4848-84B8-1F78D9D76F1E}" type="presParOf" srcId="{F218D9F0-2D44-4645-AD78-0485F601FA4A}" destId="{97877726-38A5-4676-BA5E-A64C14F5525D}" srcOrd="3" destOrd="0" presId="urn:microsoft.com/office/officeart/2018/5/layout/IconLeafLabelList"/>
    <dgm:cxn modelId="{912E7D68-231E-1144-8922-5A19749D4032}" type="presParOf" srcId="{09939A8A-EEBB-4A79-AAE7-16D3DCB0B2AF}" destId="{3FFF961B-0A5D-4890-B0AD-1A970CC16F37}" srcOrd="9" destOrd="0" presId="urn:microsoft.com/office/officeart/2018/5/layout/IconLeafLabelList"/>
    <dgm:cxn modelId="{1DD98249-B50F-E447-9BB4-8FA37929F193}" type="presParOf" srcId="{09939A8A-EEBB-4A79-AAE7-16D3DCB0B2AF}" destId="{5B5549E7-B708-448C-BD6D-407C9CA2C963}" srcOrd="10" destOrd="0" presId="urn:microsoft.com/office/officeart/2018/5/layout/IconLeafLabelList"/>
    <dgm:cxn modelId="{EB84CC78-4F07-8B4A-8AC7-A6B05814A7E7}" type="presParOf" srcId="{5B5549E7-B708-448C-BD6D-407C9CA2C963}" destId="{E55474B5-C184-4490-81B5-1953B9B1D45A}" srcOrd="0" destOrd="0" presId="urn:microsoft.com/office/officeart/2018/5/layout/IconLeafLabelList"/>
    <dgm:cxn modelId="{065E30E6-08E4-104C-A8BD-13D09E24EA7C}" type="presParOf" srcId="{5B5549E7-B708-448C-BD6D-407C9CA2C963}" destId="{BCF6FA03-004E-4D4C-A5B4-0911C878E1EE}" srcOrd="1" destOrd="0" presId="urn:microsoft.com/office/officeart/2018/5/layout/IconLeafLabelList"/>
    <dgm:cxn modelId="{8C319935-6582-8E40-8F02-BBC350BA43A8}" type="presParOf" srcId="{5B5549E7-B708-448C-BD6D-407C9CA2C963}" destId="{3CC46FBD-35D5-40D1-BE62-CAC4E3641621}" srcOrd="2" destOrd="0" presId="urn:microsoft.com/office/officeart/2018/5/layout/IconLeafLabelList"/>
    <dgm:cxn modelId="{EFB94F63-A55D-0742-B7B0-6DD702AA450A}" type="presParOf" srcId="{5B5549E7-B708-448C-BD6D-407C9CA2C963}" destId="{F78D0A75-7DA5-468E-8B9D-B59727144AA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85A85-1675-48A4-B796-2108B324BCD8}">
      <dsp:nvSpPr>
        <dsp:cNvPr id="0" name=""/>
        <dsp:cNvSpPr/>
      </dsp:nvSpPr>
      <dsp:spPr>
        <a:xfrm>
          <a:off x="331338" y="167724"/>
          <a:ext cx="1035808" cy="1035808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7A56D5-A45D-415E-8642-7989F6C2B35A}">
      <dsp:nvSpPr>
        <dsp:cNvPr id="0" name=""/>
        <dsp:cNvSpPr/>
      </dsp:nvSpPr>
      <dsp:spPr>
        <a:xfrm>
          <a:off x="552084" y="388470"/>
          <a:ext cx="594316" cy="5943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CAFB8-DF45-485B-AFD8-9C1F4BAB0844}">
      <dsp:nvSpPr>
        <dsp:cNvPr id="0" name=""/>
        <dsp:cNvSpPr/>
      </dsp:nvSpPr>
      <dsp:spPr>
        <a:xfrm>
          <a:off x="219" y="1526162"/>
          <a:ext cx="1698046" cy="983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solidFill>
                <a:schemeClr val="bg1"/>
              </a:solidFill>
            </a:rPr>
            <a:t>Agile is iterative and incremental, with the entire SDLC occurring in repeating cycles.</a:t>
          </a:r>
        </a:p>
      </dsp:txBody>
      <dsp:txXfrm>
        <a:off x="219" y="1526162"/>
        <a:ext cx="1698046" cy="983009"/>
      </dsp:txXfrm>
    </dsp:sp>
    <dsp:sp modelId="{FA940AB0-5643-4FFA-9173-2A11DE8AD83A}">
      <dsp:nvSpPr>
        <dsp:cNvPr id="0" name=""/>
        <dsp:cNvSpPr/>
      </dsp:nvSpPr>
      <dsp:spPr>
        <a:xfrm>
          <a:off x="2326543" y="167724"/>
          <a:ext cx="1035808" cy="1035808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F1697-39D4-4844-8689-9C80852BA80F}">
      <dsp:nvSpPr>
        <dsp:cNvPr id="0" name=""/>
        <dsp:cNvSpPr/>
      </dsp:nvSpPr>
      <dsp:spPr>
        <a:xfrm>
          <a:off x="2547289" y="388470"/>
          <a:ext cx="594316" cy="5943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9C3051-2B0E-4C47-8F94-DD54D22DBAB1}">
      <dsp:nvSpPr>
        <dsp:cNvPr id="0" name=""/>
        <dsp:cNvSpPr/>
      </dsp:nvSpPr>
      <dsp:spPr>
        <a:xfrm>
          <a:off x="1995424" y="1526162"/>
          <a:ext cx="1698046" cy="983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solidFill>
                <a:schemeClr val="bg1"/>
              </a:solidFill>
            </a:rPr>
            <a:t>Planning: Define the overall product vision (Product Backlog).</a:t>
          </a:r>
        </a:p>
      </dsp:txBody>
      <dsp:txXfrm>
        <a:off x="1995424" y="1526162"/>
        <a:ext cx="1698046" cy="983009"/>
      </dsp:txXfrm>
    </dsp:sp>
    <dsp:sp modelId="{5C7003B4-8D73-4359-AA08-60A7C4E0B2DA}">
      <dsp:nvSpPr>
        <dsp:cNvPr id="0" name=""/>
        <dsp:cNvSpPr/>
      </dsp:nvSpPr>
      <dsp:spPr>
        <a:xfrm>
          <a:off x="4321748" y="167724"/>
          <a:ext cx="1035808" cy="1035808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6B5C5B-F270-4EA2-A3D9-4C392707F557}">
      <dsp:nvSpPr>
        <dsp:cNvPr id="0" name=""/>
        <dsp:cNvSpPr/>
      </dsp:nvSpPr>
      <dsp:spPr>
        <a:xfrm>
          <a:off x="4542494" y="388470"/>
          <a:ext cx="594316" cy="5943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23A13-12DE-4476-84F7-615EC2607949}">
      <dsp:nvSpPr>
        <dsp:cNvPr id="0" name=""/>
        <dsp:cNvSpPr/>
      </dsp:nvSpPr>
      <dsp:spPr>
        <a:xfrm>
          <a:off x="3990629" y="1526162"/>
          <a:ext cx="1698046" cy="983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solidFill>
                <a:schemeClr val="bg1"/>
              </a:solidFill>
            </a:rPr>
            <a:t>Design &amp; Development: The team designs, codes, and tests features within a short sprint.</a:t>
          </a:r>
        </a:p>
      </dsp:txBody>
      <dsp:txXfrm>
        <a:off x="3990629" y="1526162"/>
        <a:ext cx="1698046" cy="983009"/>
      </dsp:txXfrm>
    </dsp:sp>
    <dsp:sp modelId="{49B6ABD5-AC46-4296-8E42-B2D1AD70730A}">
      <dsp:nvSpPr>
        <dsp:cNvPr id="0" name=""/>
        <dsp:cNvSpPr/>
      </dsp:nvSpPr>
      <dsp:spPr>
        <a:xfrm>
          <a:off x="331338" y="2933683"/>
          <a:ext cx="1035808" cy="1035808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5AA17D-132B-405D-97CD-12FE7F4F13A5}">
      <dsp:nvSpPr>
        <dsp:cNvPr id="0" name=""/>
        <dsp:cNvSpPr/>
      </dsp:nvSpPr>
      <dsp:spPr>
        <a:xfrm>
          <a:off x="552084" y="3154429"/>
          <a:ext cx="594316" cy="5943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00004-A396-4405-976E-A13A0EDF50BE}">
      <dsp:nvSpPr>
        <dsp:cNvPr id="0" name=""/>
        <dsp:cNvSpPr/>
      </dsp:nvSpPr>
      <dsp:spPr>
        <a:xfrm>
          <a:off x="219" y="4292121"/>
          <a:ext cx="1698046" cy="983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solidFill>
                <a:schemeClr val="bg1"/>
              </a:solidFill>
            </a:rPr>
            <a:t>Continuous testing is integrated into every Sprint, resulting in a potentially shippable increment.</a:t>
          </a:r>
        </a:p>
      </dsp:txBody>
      <dsp:txXfrm>
        <a:off x="219" y="4292121"/>
        <a:ext cx="1698046" cy="983009"/>
      </dsp:txXfrm>
    </dsp:sp>
    <dsp:sp modelId="{84D5C079-FFF5-4EDE-9F4D-CE05F37ECF6F}">
      <dsp:nvSpPr>
        <dsp:cNvPr id="0" name=""/>
        <dsp:cNvSpPr/>
      </dsp:nvSpPr>
      <dsp:spPr>
        <a:xfrm>
          <a:off x="2326543" y="2933683"/>
          <a:ext cx="1035808" cy="1035808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E6CDAB-20D7-46C3-AFB9-F86CD8135916}">
      <dsp:nvSpPr>
        <dsp:cNvPr id="0" name=""/>
        <dsp:cNvSpPr/>
      </dsp:nvSpPr>
      <dsp:spPr>
        <a:xfrm>
          <a:off x="2547289" y="3154429"/>
          <a:ext cx="594316" cy="5943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877726-38A5-4676-BA5E-A64C14F5525D}">
      <dsp:nvSpPr>
        <dsp:cNvPr id="0" name=""/>
        <dsp:cNvSpPr/>
      </dsp:nvSpPr>
      <dsp:spPr>
        <a:xfrm>
          <a:off x="1995424" y="4292121"/>
          <a:ext cx="1698046" cy="983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solidFill>
                <a:schemeClr val="bg1"/>
              </a:solidFill>
            </a:rPr>
            <a:t>A working product increment is released to stakeholders/users at the end of each Sprint or after several Sprints.</a:t>
          </a:r>
        </a:p>
      </dsp:txBody>
      <dsp:txXfrm>
        <a:off x="1995424" y="4292121"/>
        <a:ext cx="1698046" cy="983009"/>
      </dsp:txXfrm>
    </dsp:sp>
    <dsp:sp modelId="{E55474B5-C184-4490-81B5-1953B9B1D45A}">
      <dsp:nvSpPr>
        <dsp:cNvPr id="0" name=""/>
        <dsp:cNvSpPr/>
      </dsp:nvSpPr>
      <dsp:spPr>
        <a:xfrm>
          <a:off x="4321748" y="2933683"/>
          <a:ext cx="1035808" cy="1035808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6FA03-004E-4D4C-A5B4-0911C878E1EE}">
      <dsp:nvSpPr>
        <dsp:cNvPr id="0" name=""/>
        <dsp:cNvSpPr/>
      </dsp:nvSpPr>
      <dsp:spPr>
        <a:xfrm>
          <a:off x="4542494" y="3154429"/>
          <a:ext cx="594316" cy="59431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8D0A75-7DA5-468E-8B9D-B59727144AAD}">
      <dsp:nvSpPr>
        <dsp:cNvPr id="0" name=""/>
        <dsp:cNvSpPr/>
      </dsp:nvSpPr>
      <dsp:spPr>
        <a:xfrm>
          <a:off x="3990629" y="4292121"/>
          <a:ext cx="1698046" cy="983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solidFill>
                <a:schemeClr val="bg1"/>
              </a:solidFill>
            </a:rPr>
            <a:t>Review and Retrospective: The team and stakeholders inspect the increment and improve the process.</a:t>
          </a:r>
        </a:p>
      </dsp:txBody>
      <dsp:txXfrm>
        <a:off x="3990629" y="4292121"/>
        <a:ext cx="1698046" cy="983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5667-C813-AC08-F4A2-CC2A0A53E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52C19-755C-5071-45CB-E0F035187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BED2F-5A3B-DB6E-2576-B6B61E3B9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5E71A-58CB-8CAF-FE5F-50F3492E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90D1F-3BC4-2B65-F7E3-B39FF2B20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6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B9EF-2CB5-F7B0-96FE-CA11F189C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B9747-179F-2194-312E-DA514CBB6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13584-1AB7-FACC-5DE5-614F8D296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A5D69-8A8F-4011-3242-A62262540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F431-033D-E950-7C87-46903779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9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6176F-A612-9A70-201C-65C423C66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D84A4-7225-6F26-0E6A-B10AEF0A6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A4354-9A2D-9F35-314E-1D96E8614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5258C-6EC5-41DF-C597-D1C5B8C20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BC72A-CDDA-BE48-E872-58FFAEB4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0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AB2CE-F3AD-770A-0E44-8C59DE26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7419F-2F07-AADC-97A7-30C538528B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2759C-C55A-AD1A-DD7F-E1BB682A8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4FF4-5DD1-04B1-7207-D1B45AEB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09F2A-2885-D0FB-6149-536740C4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6EBB3-3D22-E99F-BD0A-3B6B4A78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8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2A62-E446-F2FC-34E2-4A96EA44E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F013F-CCBE-08E3-E320-A51858A9A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4F429-4A5D-E630-D5A7-49F88C89B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E431B5-F8A9-82FD-A04F-D460BC4DA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68FDC6-247B-241C-CD1C-07E3D524F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4666CC-2764-AE3D-9DCE-96137242D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DBC206-1F37-78D9-9248-F5646DA0B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AB80D-1E01-D151-C26E-2C4980D6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561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DDDD-15A7-3C94-433E-E665C44F2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F3B73-5953-1CBB-A39F-59C889FCF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5E5CB-1A63-DF71-F138-51201DAE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F1103-CBFA-E87B-744C-B8126A2C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0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ED0A2-E28C-FA4C-73F8-E23033276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E5F8A0-10AA-9DCA-D4B4-450CD90D7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36202-492C-A6FA-A53E-FC6AB000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0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7DE0-9D44-8C1E-E44A-42715342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936C6-6978-3AB2-4D22-6EDFA28BC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31D20-FACC-4442-76B7-83FB58872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C9950-1DFF-E8A4-1C5A-661B7B2E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CC666-B9CE-7362-0514-D7651673B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90437-8102-3675-2304-B9D06A1E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05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CBD4-4221-376A-20D4-FB2BCCE2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DE9835-7235-8DA0-0DD3-4F475957A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C8F99-8ED0-6721-FDE4-624241599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6D177-26CB-2CCF-21A9-CB5B683B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5A07F-303F-D82C-4BA1-1693A051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A3A3D-EA84-7F90-91ED-EDFD446C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87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5B0B0-9B05-EFFD-66C8-543F36B3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C04ED-EDFE-4A68-99CE-8A500F37F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CB045-8E66-1F54-A4E4-43B36906E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F2C52-6A71-1589-4880-7176595EE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843F4-22B7-AEB4-5791-7ABFE43F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3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BFA894-0EBA-0B7F-4BF1-5EFAA8EC5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6B2A5-6C0F-EFB5-1EEA-E62BA1FA8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363EC-9DA8-4E32-4FA3-CDB431215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FB09-5462-4B70-A3DA-DB801834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82DD6-579B-6B6F-576A-95CE14D1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4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41EE5-97A9-2263-E38F-5ADD3AE8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23BED-C3A3-C762-6FAD-F6D92D9B5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C8FE5-100C-68A8-46CF-77282FC5C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A3724-665E-4A46-A95B-D89136338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B4064-E08A-60D8-566D-D5F52B5F6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9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.org/disciplined-agile/agile/theagilemanifesto" TargetMode="External"/><Relationship Id="rId2" Type="http://schemas.openxmlformats.org/officeDocument/2006/relationships/hyperlink" Target="https://learning.oreilly.com/library/view/clean-agile-back/9780135782002/ch05.xhtml#ch05lev1sec1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doi.org/10.1109/TPC.2025.35856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Jigsaw puzzles in plastic figures">
            <a:extLst>
              <a:ext uri="{FF2B5EF4-FFF2-40B4-BE49-F238E27FC236}">
                <a16:creationId xmlns:a16="http://schemas.microsoft.com/office/drawing/2014/main" id="{C82128E6-7F8D-C3E9-A9EB-ED64B83CC2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27" r="19261" b="483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3DB21-808F-6696-674C-B5F35255F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Modernized Software Development Practices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155EE-649A-9273-CE12-BBF3A169F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Name: Joshua Sevy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Company: Chada Tech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Date: 12/10/2025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014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4A040-0DB6-5B3F-7545-64F2855C6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40" y="239487"/>
            <a:ext cx="5325144" cy="9361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Agile Phases</a:t>
            </a:r>
          </a:p>
        </p:txBody>
      </p:sp>
      <p:graphicFrame>
        <p:nvGraphicFramePr>
          <p:cNvPr id="21" name="Text Placeholder 3">
            <a:extLst>
              <a:ext uri="{FF2B5EF4-FFF2-40B4-BE49-F238E27FC236}">
                <a16:creationId xmlns:a16="http://schemas.microsoft.com/office/drawing/2014/main" id="{D98D7A84-7CA6-4B00-4C31-E6AB62D99B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3106227"/>
              </p:ext>
            </p:extLst>
          </p:nvPr>
        </p:nvGraphicFramePr>
        <p:xfrm>
          <a:off x="145839" y="1175657"/>
          <a:ext cx="5688896" cy="5442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25B3BF0E-A0CD-B3D8-B0C7-C9B3C7DB2D92}"/>
              </a:ext>
            </a:extLst>
          </p:cNvPr>
          <p:cNvSpPr txBox="1"/>
          <p:nvPr/>
        </p:nvSpPr>
        <p:spPr>
          <a:xfrm>
            <a:off x="6270170" y="1175657"/>
            <a:ext cx="5775989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Product Owner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</a:rPr>
              <a:t>Defines the vision, manages the </a:t>
            </a:r>
            <a:r>
              <a:rPr lang="en-US" sz="1200" b="1" dirty="0">
                <a:solidFill>
                  <a:schemeClr val="bg1"/>
                </a:solidFill>
              </a:rPr>
              <a:t>Product Backlog</a:t>
            </a:r>
            <a:r>
              <a:rPr lang="en-US" sz="1200" dirty="0">
                <a:solidFill>
                  <a:schemeClr val="bg1"/>
                </a:solidFill>
              </a:rPr>
              <a:t>, and prioritizes features.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</a:rPr>
              <a:t>Ensures the team builds the </a:t>
            </a:r>
            <a:r>
              <a:rPr lang="en-US" sz="1200" b="1" dirty="0">
                <a:solidFill>
                  <a:schemeClr val="bg1"/>
                </a:solidFill>
              </a:rPr>
              <a:t>right product</a:t>
            </a:r>
            <a:r>
              <a:rPr lang="en-US" sz="1200" dirty="0">
                <a:solidFill>
                  <a:schemeClr val="bg1"/>
                </a:solidFill>
              </a:rPr>
              <a:t> that maximizes business value and meets stakeholder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Scrum Master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</a:rPr>
              <a:t>Acts as a </a:t>
            </a:r>
            <a:r>
              <a:rPr lang="en-US" sz="1200" b="1" dirty="0">
                <a:solidFill>
                  <a:schemeClr val="bg1"/>
                </a:solidFill>
              </a:rPr>
              <a:t>servant leader</a:t>
            </a:r>
            <a:r>
              <a:rPr lang="en-US" sz="1200" dirty="0">
                <a:solidFill>
                  <a:schemeClr val="bg1"/>
                </a:solidFill>
              </a:rPr>
              <a:t>; coaches the team, removes impediments, and enforces Scrum rules.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</a:rPr>
              <a:t>Facilitates the process and shields the team, ensuring </a:t>
            </a:r>
            <a:r>
              <a:rPr lang="en-US" sz="1200" b="1" dirty="0">
                <a:solidFill>
                  <a:schemeClr val="bg1"/>
                </a:solidFill>
              </a:rPr>
              <a:t>efficiency and adherence</a:t>
            </a:r>
            <a:r>
              <a:rPr lang="en-US" sz="1200" dirty="0">
                <a:solidFill>
                  <a:schemeClr val="bg1"/>
                </a:solidFill>
              </a:rPr>
              <a:t> to the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Developers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</a:rPr>
              <a:t>Responsible for designing, coding, and building the necessary features to meet the Sprint Goal.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</a:rPr>
              <a:t>Translates the requirements into </a:t>
            </a:r>
            <a:r>
              <a:rPr lang="en-US" sz="1200" b="1" dirty="0">
                <a:solidFill>
                  <a:schemeClr val="bg1"/>
                </a:solidFill>
              </a:rPr>
              <a:t>working software</a:t>
            </a:r>
            <a:r>
              <a:rPr lang="en-US" sz="1200" dirty="0">
                <a:solidFill>
                  <a:schemeClr val="bg1"/>
                </a:solidFill>
              </a:rPr>
              <a:t>, focusing on technical quality and implementation.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Testers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</a:rPr>
              <a:t>Responsible for planning, writing, and executing quality checks (manual and automated) on the code.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</a:rPr>
              <a:t>Ensures the delivered software is </a:t>
            </a:r>
            <a:r>
              <a:rPr lang="en-US" sz="1200" b="1" dirty="0">
                <a:solidFill>
                  <a:schemeClr val="bg1"/>
                </a:solidFill>
              </a:rPr>
              <a:t>high quality</a:t>
            </a:r>
            <a:r>
              <a:rPr lang="en-US" sz="1200" dirty="0">
                <a:solidFill>
                  <a:schemeClr val="bg1"/>
                </a:solidFill>
              </a:rPr>
              <a:t> and meets the acceptance criteria </a:t>
            </a:r>
            <a:r>
              <a:rPr lang="en-US" sz="1200" i="1" dirty="0">
                <a:solidFill>
                  <a:schemeClr val="bg1"/>
                </a:solidFill>
              </a:rPr>
              <a:t>within</a:t>
            </a:r>
            <a:r>
              <a:rPr lang="en-US" sz="1200" dirty="0">
                <a:solidFill>
                  <a:schemeClr val="bg1"/>
                </a:solidFill>
              </a:rPr>
              <a:t> the same Sprint (continuous quality assurance).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F31C76F-44A2-81D6-6441-54BE95C88C03}"/>
              </a:ext>
            </a:extLst>
          </p:cNvPr>
          <p:cNvSpPr txBox="1">
            <a:spLocks/>
          </p:cNvSpPr>
          <p:nvPr/>
        </p:nvSpPr>
        <p:spPr>
          <a:xfrm>
            <a:off x="6270170" y="239487"/>
            <a:ext cx="5775991" cy="936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Agile Roles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48D796-1C4D-E18E-56C7-ABDB8A47EB9F}"/>
              </a:ext>
            </a:extLst>
          </p:cNvPr>
          <p:cNvCxnSpPr>
            <a:cxnSpLocks/>
          </p:cNvCxnSpPr>
          <p:nvPr/>
        </p:nvCxnSpPr>
        <p:spPr>
          <a:xfrm>
            <a:off x="6014358" y="239487"/>
            <a:ext cx="0" cy="63790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094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FCB373CA-C5B5-1E3F-D284-13B1157B69D0}"/>
              </a:ext>
            </a:extLst>
          </p:cNvPr>
          <p:cNvSpPr txBox="1"/>
          <p:nvPr/>
        </p:nvSpPr>
        <p:spPr>
          <a:xfrm>
            <a:off x="-8606" y="151713"/>
            <a:ext cx="6007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Waterfall Model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23D1E2-27A4-F19D-8E7F-EA59399C573D}"/>
              </a:ext>
            </a:extLst>
          </p:cNvPr>
          <p:cNvGrpSpPr/>
          <p:nvPr/>
        </p:nvGrpSpPr>
        <p:grpSpPr>
          <a:xfrm>
            <a:off x="2104515" y="1285011"/>
            <a:ext cx="6982635" cy="3728963"/>
            <a:chOff x="7234389" y="4552230"/>
            <a:chExt cx="4170250" cy="1904818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07AD4F12-19F1-835A-0D16-E4D77A42C18B}"/>
                </a:ext>
              </a:extLst>
            </p:cNvPr>
            <p:cNvSpPr/>
            <p:nvPr/>
          </p:nvSpPr>
          <p:spPr>
            <a:xfrm>
              <a:off x="7234389" y="4552230"/>
              <a:ext cx="1906845" cy="269198"/>
            </a:xfrm>
            <a:prstGeom prst="roundRect">
              <a:avLst/>
            </a:prstGeom>
            <a:solidFill>
              <a:srgbClr val="FF0000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Requirements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95C16103-873F-5F07-CCBA-374A2CA7591F}"/>
                </a:ext>
              </a:extLst>
            </p:cNvPr>
            <p:cNvSpPr/>
            <p:nvPr/>
          </p:nvSpPr>
          <p:spPr>
            <a:xfrm>
              <a:off x="7957426" y="4956266"/>
              <a:ext cx="1906844" cy="269198"/>
            </a:xfrm>
            <a:prstGeom prst="roundRect">
              <a:avLst/>
            </a:prstGeom>
            <a:solidFill>
              <a:srgbClr val="92D050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Design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622C8ED8-BAE7-1909-DADC-6BF0D98C355B}"/>
                </a:ext>
              </a:extLst>
            </p:cNvPr>
            <p:cNvSpPr/>
            <p:nvPr/>
          </p:nvSpPr>
          <p:spPr>
            <a:xfrm>
              <a:off x="8608415" y="5360063"/>
              <a:ext cx="1800466" cy="269198"/>
            </a:xfrm>
            <a:prstGeom prst="roundRect">
              <a:avLst/>
            </a:prstGeom>
            <a:solidFill>
              <a:srgbClr val="002060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Development</a:t>
              </a: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B76E39C7-05E6-8077-C2E3-8784B2493CDF}"/>
                </a:ext>
              </a:extLst>
            </p:cNvPr>
            <p:cNvSpPr/>
            <p:nvPr/>
          </p:nvSpPr>
          <p:spPr>
            <a:xfrm>
              <a:off x="9013508" y="5779301"/>
              <a:ext cx="1829523" cy="269198"/>
            </a:xfrm>
            <a:prstGeom prst="roundRect">
              <a:avLst/>
            </a:prstGeom>
            <a:solidFill>
              <a:srgbClr val="7030A0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Testing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2C87F08A-BE2D-9DBC-7A90-FF1A8DC2FAB9}"/>
                </a:ext>
              </a:extLst>
            </p:cNvPr>
            <p:cNvSpPr/>
            <p:nvPr/>
          </p:nvSpPr>
          <p:spPr>
            <a:xfrm>
              <a:off x="9575116" y="6187850"/>
              <a:ext cx="1829523" cy="269198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Maintenance</a:t>
              </a:r>
            </a:p>
          </p:txBody>
        </p:sp>
        <p:sp>
          <p:nvSpPr>
            <p:cNvPr id="46" name="Bent Arrow 45">
              <a:extLst>
                <a:ext uri="{FF2B5EF4-FFF2-40B4-BE49-F238E27FC236}">
                  <a16:creationId xmlns:a16="http://schemas.microsoft.com/office/drawing/2014/main" id="{5A5BEC62-F143-2457-7B72-658ACA1DE5A0}"/>
                </a:ext>
              </a:extLst>
            </p:cNvPr>
            <p:cNvSpPr/>
            <p:nvPr/>
          </p:nvSpPr>
          <p:spPr>
            <a:xfrm rot="5400000">
              <a:off x="9161237" y="4639840"/>
              <a:ext cx="189167" cy="229174"/>
            </a:xfrm>
            <a:prstGeom prst="ben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Bent Arrow 46">
              <a:extLst>
                <a:ext uri="{FF2B5EF4-FFF2-40B4-BE49-F238E27FC236}">
                  <a16:creationId xmlns:a16="http://schemas.microsoft.com/office/drawing/2014/main" id="{8C7180D9-02F0-2A68-33BA-79FE530064C5}"/>
                </a:ext>
              </a:extLst>
            </p:cNvPr>
            <p:cNvSpPr/>
            <p:nvPr/>
          </p:nvSpPr>
          <p:spPr>
            <a:xfrm rot="5400000">
              <a:off x="9884273" y="5080251"/>
              <a:ext cx="189167" cy="229174"/>
            </a:xfrm>
            <a:prstGeom prst="ben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8" name="Bent Arrow 47">
              <a:extLst>
                <a:ext uri="{FF2B5EF4-FFF2-40B4-BE49-F238E27FC236}">
                  <a16:creationId xmlns:a16="http://schemas.microsoft.com/office/drawing/2014/main" id="{647E671C-21E8-8597-8096-206A3D0E0657}"/>
                </a:ext>
              </a:extLst>
            </p:cNvPr>
            <p:cNvSpPr/>
            <p:nvPr/>
          </p:nvSpPr>
          <p:spPr>
            <a:xfrm rot="5400000">
              <a:off x="10464807" y="5474659"/>
              <a:ext cx="189167" cy="229174"/>
            </a:xfrm>
            <a:prstGeom prst="ben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Bent Arrow 48">
              <a:extLst>
                <a:ext uri="{FF2B5EF4-FFF2-40B4-BE49-F238E27FC236}">
                  <a16:creationId xmlns:a16="http://schemas.microsoft.com/office/drawing/2014/main" id="{71F86BCE-1F2A-8BD8-25B9-0699AE8A8A21}"/>
                </a:ext>
              </a:extLst>
            </p:cNvPr>
            <p:cNvSpPr/>
            <p:nvPr/>
          </p:nvSpPr>
          <p:spPr>
            <a:xfrm rot="5400000">
              <a:off x="10887272" y="5862078"/>
              <a:ext cx="189167" cy="229174"/>
            </a:xfrm>
            <a:prstGeom prst="ben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22A1A7-E84E-6938-2226-48C15091C126}"/>
              </a:ext>
            </a:extLst>
          </p:cNvPr>
          <p:cNvSpPr txBox="1"/>
          <p:nvPr/>
        </p:nvSpPr>
        <p:spPr>
          <a:xfrm>
            <a:off x="88258" y="3843965"/>
            <a:ext cx="60077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Waterfall Development Model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All requirements are defined upfront and locked 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Testing occurs after development is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Limited customer involvement after the planning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Changes late in the process are costly and disruptive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Delivers the full product only at the end of the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2A4FA-03D8-558C-088E-BE276D847BD6}"/>
              </a:ext>
            </a:extLst>
          </p:cNvPr>
          <p:cNvSpPr txBox="1"/>
          <p:nvPr/>
        </p:nvSpPr>
        <p:spPr>
          <a:xfrm>
            <a:off x="8748514" y="133793"/>
            <a:ext cx="35036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Key Characteristics:</a:t>
            </a:r>
            <a:endParaRPr lang="en-US" u="sng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Heavy upfront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Linear delivery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Changes are difficult once development begins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Testing occurs near the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Customers see results very late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u="sng" dirty="0">
                <a:solidFill>
                  <a:schemeClr val="bg1"/>
                </a:solidFill>
              </a:rPr>
              <a:t>Typical Risk:</a:t>
            </a:r>
            <a:endParaRPr lang="en-US" u="sng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Problems discovered after months of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High rework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Delayed value delivery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lvl="0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060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732A-D7BB-764A-B700-28BE90698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40" y="5173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Agile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30841-2B8A-E978-7FFC-810657EFA113}"/>
              </a:ext>
            </a:extLst>
          </p:cNvPr>
          <p:cNvSpPr txBox="1"/>
          <p:nvPr/>
        </p:nvSpPr>
        <p:spPr>
          <a:xfrm>
            <a:off x="6096000" y="365770"/>
            <a:ext cx="5941343" cy="584775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b="1" u="sng" dirty="0">
                <a:solidFill>
                  <a:schemeClr val="bg1"/>
                </a:solidFill>
              </a:rPr>
              <a:t>Planning</a:t>
            </a:r>
            <a:endParaRPr lang="en-US" sz="2000" u="sng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High-level vision and backlog creation</a:t>
            </a:r>
          </a:p>
          <a:p>
            <a:r>
              <a:rPr lang="en-US" sz="2000" b="1" u="sng" dirty="0">
                <a:solidFill>
                  <a:schemeClr val="bg1"/>
                </a:solidFill>
              </a:rPr>
              <a:t>Design</a:t>
            </a:r>
            <a:endParaRPr lang="en-US" sz="2000" u="sng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Lightweight, evolving architecture</a:t>
            </a:r>
          </a:p>
          <a:p>
            <a:r>
              <a:rPr lang="en-US" sz="2000" b="1" u="sng" dirty="0">
                <a:solidFill>
                  <a:schemeClr val="bg1"/>
                </a:solidFill>
              </a:rPr>
              <a:t>Development</a:t>
            </a:r>
            <a:endParaRPr lang="en-US" sz="2000" u="sng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Work completed in short sprints</a:t>
            </a:r>
          </a:p>
          <a:p>
            <a:r>
              <a:rPr lang="en-US" sz="2000" b="1" u="sng" dirty="0">
                <a:solidFill>
                  <a:schemeClr val="bg1"/>
                </a:solidFill>
              </a:rPr>
              <a:t>Testing</a:t>
            </a:r>
            <a:endParaRPr lang="en-US" sz="2000" u="sng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Continuous validation during each sprint</a:t>
            </a:r>
          </a:p>
          <a:p>
            <a:r>
              <a:rPr lang="en-US" sz="2000" b="1" u="sng" dirty="0">
                <a:solidFill>
                  <a:schemeClr val="bg1"/>
                </a:solidFill>
              </a:rPr>
              <a:t>Release</a:t>
            </a:r>
            <a:endParaRPr lang="en-US" sz="2000" u="sng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Frequent production deployments</a:t>
            </a:r>
          </a:p>
          <a:p>
            <a:r>
              <a:rPr lang="en-US" sz="2000" b="1" u="sng" dirty="0">
                <a:solidFill>
                  <a:schemeClr val="bg1"/>
                </a:solidFill>
              </a:rPr>
              <a:t>Review &amp; Retrospective</a:t>
            </a:r>
            <a:endParaRPr lang="en-US" sz="2000" u="sng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Feedback and continuous improvement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b="1" u="sng" dirty="0">
                <a:solidFill>
                  <a:schemeClr val="bg1"/>
                </a:solidFill>
              </a:rPr>
              <a:t>Why This Matters: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Iterative delivery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Early risk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Faster customer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Continuous improvement instead of late correction</a:t>
            </a:r>
          </a:p>
          <a:p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C27123-4104-8C5F-6A42-DF35B9B1900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81949" y="1365195"/>
            <a:ext cx="5101389" cy="5167313"/>
            <a:chOff x="813207" y="1228905"/>
            <a:chExt cx="4007257" cy="411168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56DC3-4B18-C79D-692A-0BCD658601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3207" y="1228905"/>
              <a:ext cx="4007257" cy="411168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E9BE911-82B4-70BD-BAB2-078A608B88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37915" y="2381666"/>
              <a:ext cx="1756940" cy="1797053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053009A3-5838-6402-4C07-8A48CD9030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 flipV="1">
              <a:off x="1871140" y="1312613"/>
              <a:ext cx="1816239" cy="985346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Testing</a:t>
              </a:r>
            </a:p>
          </p:txBody>
        </p:sp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691E474B-7B02-1FAA-2D48-DAA397F0E6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4658798" flipV="1">
              <a:off x="3248317" y="2043945"/>
              <a:ext cx="1624071" cy="1026927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Development</a:t>
              </a:r>
            </a:p>
          </p:txBody>
        </p:sp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B379D115-CB09-9E75-A517-B0303472AE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7329541" flipV="1">
              <a:off x="725085" y="2017611"/>
              <a:ext cx="1738903" cy="1071843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Release</a:t>
              </a:r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9C989F1E-D711-EF3E-704D-141950A57F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8671865">
              <a:off x="3139460" y="3406370"/>
              <a:ext cx="1768819" cy="1011881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Design</a:t>
              </a:r>
            </a:p>
          </p:txBody>
        </p:sp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BF20CB69-1A40-574A-7D3D-3854E8B9F7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3410127">
              <a:off x="799340" y="3428300"/>
              <a:ext cx="1781003" cy="1002603"/>
            </a:xfrm>
            <a:prstGeom prst="rightArrow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Retrospective</a:t>
              </a:r>
            </a:p>
          </p:txBody>
        </p:sp>
      </p:grpSp>
      <p:sp>
        <p:nvSpPr>
          <p:cNvPr id="22" name="Right Arrow 21">
            <a:extLst>
              <a:ext uri="{FF2B5EF4-FFF2-40B4-BE49-F238E27FC236}">
                <a16:creationId xmlns:a16="http://schemas.microsoft.com/office/drawing/2014/main" id="{7769EB72-3E36-85AD-A9E5-D91089F470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52610" y="5020992"/>
            <a:ext cx="2318344" cy="1276351"/>
          </a:xfrm>
          <a:prstGeom prst="rightArrow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Planning</a:t>
            </a:r>
          </a:p>
        </p:txBody>
      </p:sp>
    </p:spTree>
    <p:extLst>
      <p:ext uri="{BB962C8B-B14F-4D97-AF65-F5344CB8AC3E}">
        <p14:creationId xmlns:p14="http://schemas.microsoft.com/office/powerpoint/2010/main" val="340004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1C9D3-CA5A-520E-ABFF-4D9E010F1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5" y="269323"/>
            <a:ext cx="4266878" cy="63841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Waterfall</a:t>
            </a:r>
            <a:br>
              <a:rPr lang="en-US" sz="8000" dirty="0">
                <a:solidFill>
                  <a:schemeClr val="bg1"/>
                </a:solidFill>
              </a:rPr>
            </a:br>
            <a:r>
              <a:rPr lang="en-US" sz="8000" dirty="0">
                <a:solidFill>
                  <a:schemeClr val="bg1"/>
                </a:solidFill>
              </a:rPr>
              <a:t> VS </a:t>
            </a:r>
            <a:br>
              <a:rPr lang="en-US" sz="8000" dirty="0">
                <a:solidFill>
                  <a:schemeClr val="bg1"/>
                </a:solidFill>
              </a:rPr>
            </a:br>
            <a:r>
              <a:rPr lang="en-US" sz="8000" dirty="0">
                <a:solidFill>
                  <a:schemeClr val="bg1"/>
                </a:solidFill>
              </a:rPr>
              <a:t>Agile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8CD729-FD67-FDDF-C36B-F0B41899C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293574"/>
              </p:ext>
            </p:extLst>
          </p:nvPr>
        </p:nvGraphicFramePr>
        <p:xfrm>
          <a:off x="5786639" y="557360"/>
          <a:ext cx="5316697" cy="5750257"/>
        </p:xfrm>
        <a:graphic>
          <a:graphicData uri="http://schemas.openxmlformats.org/drawingml/2006/table">
            <a:tbl>
              <a:tblPr/>
              <a:tblGrid>
                <a:gridCol w="1204681">
                  <a:extLst>
                    <a:ext uri="{9D8B030D-6E8A-4147-A177-3AD203B41FA5}">
                      <a16:colId xmlns:a16="http://schemas.microsoft.com/office/drawing/2014/main" val="2701296374"/>
                    </a:ext>
                  </a:extLst>
                </a:gridCol>
                <a:gridCol w="2033937">
                  <a:extLst>
                    <a:ext uri="{9D8B030D-6E8A-4147-A177-3AD203B41FA5}">
                      <a16:colId xmlns:a16="http://schemas.microsoft.com/office/drawing/2014/main" val="4024078491"/>
                    </a:ext>
                  </a:extLst>
                </a:gridCol>
                <a:gridCol w="2078079">
                  <a:extLst>
                    <a:ext uri="{9D8B030D-6E8A-4147-A177-3AD203B41FA5}">
                      <a16:colId xmlns:a16="http://schemas.microsoft.com/office/drawing/2014/main" val="1849326178"/>
                    </a:ext>
                  </a:extLst>
                </a:gridCol>
              </a:tblGrid>
              <a:tr h="3637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🌊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Waterfall Approach</a:t>
                      </a: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🚀</a:t>
                      </a: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Agile Approach</a:t>
                      </a: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772145"/>
                  </a:ext>
                </a:extLst>
              </a:tr>
              <a:tr h="1846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Structure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Sequential and linear. Each phase must be completed before the next begins.</a:t>
                      </a: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Iterative and cyclical. Requirements, design, development, and testing repeat in short sprints.</a:t>
                      </a: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067838"/>
                  </a:ext>
                </a:extLst>
              </a:tr>
              <a:tr h="12112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Change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 resistance to change. Late changes are costly and disruptive after sign-off.</a:t>
                      </a: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Embraces change. Requirements are refined and reprioritized after each sprint review.</a:t>
                      </a: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053642"/>
                  </a:ext>
                </a:extLst>
              </a:tr>
              <a:tr h="9994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Delivery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large delivery at the end of the project.</a:t>
                      </a: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Frequent, incremental deliveries of working software.</a:t>
                      </a: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781538"/>
                  </a:ext>
                </a:extLst>
              </a:tr>
              <a:tr h="12112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Stakeholder Involvement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Limited to early requirements and final acceptance.</a:t>
                      </a: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Continuous involvement through sprint reviews and ongoing collaboration.</a:t>
                      </a:r>
                    </a:p>
                  </a:txBody>
                  <a:tcPr marL="86656" marR="86656" marT="57771" marB="5777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396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361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26594-7D3F-2E4F-95C4-EFA3E1C0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Choosing the right approach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F64FE-9B89-CAB2-0F1D-9F6D5D826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2017" y="1620405"/>
            <a:ext cx="5536397" cy="260165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Factors Favoring the 🌊 Waterfall Approach: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Clear, Stable Requirements:</a:t>
            </a:r>
            <a:r>
              <a:rPr lang="en-US" sz="1400" dirty="0">
                <a:solidFill>
                  <a:schemeClr val="bg1"/>
                </a:solidFill>
              </a:rPr>
              <a:t> The requirements are well-defined, unlikely to change, and the scope is fixed.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Predictability is Key:</a:t>
            </a:r>
            <a:r>
              <a:rPr lang="en-US" sz="1400" dirty="0">
                <a:solidFill>
                  <a:schemeClr val="bg1"/>
                </a:solidFill>
              </a:rPr>
              <a:t> When the schedule, budget, and scope must be fixed upfront, and the risk of the unknown is low.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Experienced Team:</a:t>
            </a:r>
            <a:r>
              <a:rPr lang="en-US" sz="1400" dirty="0">
                <a:solidFill>
                  <a:schemeClr val="bg1"/>
                </a:solidFill>
              </a:rPr>
              <a:t> The team and product are familiar with the technology and domain.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C0A9277-FD80-D7C6-EAF7-76F30224CFAA}"/>
              </a:ext>
            </a:extLst>
          </p:cNvPr>
          <p:cNvSpPr txBox="1">
            <a:spLocks/>
          </p:cNvSpPr>
          <p:nvPr/>
        </p:nvSpPr>
        <p:spPr>
          <a:xfrm>
            <a:off x="5370153" y="4222061"/>
            <a:ext cx="6661426" cy="2478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</a:rPr>
              <a:t>Factors Favoring the 🚀 Agile Approach: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High Complexity/Unknowns:</a:t>
            </a:r>
            <a:r>
              <a:rPr lang="en-US" sz="1400" dirty="0">
                <a:solidFill>
                  <a:schemeClr val="bg1"/>
                </a:solidFill>
              </a:rPr>
              <a:t> The product is innovative, requirements are likely to evolve, and the market is dynamic.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Need for Rapid Feedback:</a:t>
            </a:r>
            <a:r>
              <a:rPr lang="en-US" sz="1400" dirty="0">
                <a:solidFill>
                  <a:schemeClr val="bg1"/>
                </a:solidFill>
              </a:rPr>
              <a:t> Stakeholders need to see working software frequently to provide input and steer the product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Time-to-Market is Crucial:</a:t>
            </a:r>
            <a:r>
              <a:rPr lang="en-US" sz="1400" dirty="0">
                <a:solidFill>
                  <a:schemeClr val="bg1"/>
                </a:solidFill>
              </a:rPr>
              <a:t> The business needs to deliver partial, working functionality to users quickly (Minimum Viable Product or MVP).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Active Stakeholder Availability:</a:t>
            </a:r>
            <a:r>
              <a:rPr lang="en-US" sz="1400" dirty="0">
                <a:solidFill>
                  <a:schemeClr val="bg1"/>
                </a:solidFill>
              </a:rPr>
              <a:t> The Product Owner/Leadership is available to engage with the team regularly.</a:t>
            </a:r>
          </a:p>
        </p:txBody>
      </p:sp>
    </p:spTree>
    <p:extLst>
      <p:ext uri="{BB962C8B-B14F-4D97-AF65-F5344CB8AC3E}">
        <p14:creationId xmlns:p14="http://schemas.microsoft.com/office/powerpoint/2010/main" val="1985656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375AC-FDFB-9AB5-9AD4-10D8451B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References: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775DC-25CE-04A5-A613-3574180E3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47308" y="319088"/>
            <a:ext cx="6906491" cy="62198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Cobb, C. G. (2015). The project manager’s guide to mastering Agile: Principles and practices for an adaptive approach. Wiley.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Martin, R. C. (n.d.). Clean Agile: Back to Basics. Retrieved from </a:t>
            </a:r>
            <a:r>
              <a:rPr lang="en-US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dirty="0" err="1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learning.oreilly.com</a:t>
            </a:r>
            <a:r>
              <a:rPr lang="en-US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/library/view/clean-agile-back/9780135782002/ch05.xhtml#ch05lev1sec1</a:t>
            </a:r>
            <a:endParaRPr lang="en-US" dirty="0">
              <a:solidFill>
                <a:schemeClr val="accent2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(N.d.). The Agile Manifesto. Retrieved from </a:t>
            </a:r>
            <a:r>
              <a:rPr lang="en-US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https://www.pmi.org/disciplined-agile/agile/theagilemanifesto</a:t>
            </a:r>
            <a:endParaRPr lang="en-US" dirty="0">
              <a:solidFill>
                <a:schemeClr val="accent2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Hovde, M. R., &amp; Threatt, B. (2025). The Nature and Indispensable Roles of Technical Communication in Agile Development Environments: Following Typical Processes and Adapting to Address Challenges. </a:t>
            </a:r>
            <a:r>
              <a:rPr lang="en-US" i="1" dirty="0">
                <a:solidFill>
                  <a:schemeClr val="bg1"/>
                </a:solidFill>
              </a:rPr>
              <a:t>IEEE Transactions on Professional Communication, Professional Communication, IEEE Transactions on, IEEE Trans. Profess. Commun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i="1" dirty="0">
                <a:solidFill>
                  <a:schemeClr val="bg1"/>
                </a:solidFill>
              </a:rPr>
              <a:t>68</a:t>
            </a:r>
            <a:r>
              <a:rPr lang="en-US" dirty="0">
                <a:solidFill>
                  <a:schemeClr val="bg1"/>
                </a:solidFill>
              </a:rPr>
              <a:t>(3), 302–321. </a:t>
            </a:r>
            <a:r>
              <a:rPr lang="en-US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dirty="0" err="1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</a:t>
            </a:r>
            <a:r>
              <a:rPr lang="en-US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/10.1109/TPC.2025.3585658</a:t>
            </a:r>
            <a:endParaRPr lang="en-US" dirty="0">
              <a:solidFill>
                <a:schemeClr val="accent2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326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1758</TotalTime>
  <Words>846</Words>
  <Application>Microsoft Macintosh PowerPoint</Application>
  <PresentationFormat>Widescreen</PresentationFormat>
  <Paragraphs>119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Courier New</vt:lpstr>
      <vt:lpstr>Google Sans Text</vt:lpstr>
      <vt:lpstr>Office Theme</vt:lpstr>
      <vt:lpstr>Modernized Software Development Practices</vt:lpstr>
      <vt:lpstr>Agile Phases</vt:lpstr>
      <vt:lpstr>PowerPoint Presentation</vt:lpstr>
      <vt:lpstr>Agile Methodology</vt:lpstr>
      <vt:lpstr>Waterfall  VS  Agile</vt:lpstr>
      <vt:lpstr>Choosing the right approach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Sevy</dc:creator>
  <cp:lastModifiedBy>Josh Sevy</cp:lastModifiedBy>
  <cp:revision>2</cp:revision>
  <dcterms:created xsi:type="dcterms:W3CDTF">2025-12-09T02:28:38Z</dcterms:created>
  <dcterms:modified xsi:type="dcterms:W3CDTF">2025-12-11T02:51:58Z</dcterms:modified>
</cp:coreProperties>
</file>